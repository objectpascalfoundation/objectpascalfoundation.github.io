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Source Code Pro"/>
      <p:regular r:id="rId22"/>
      <p:bold r:id="rId23"/>
      <p:italic r:id="rId24"/>
      <p:boldItalic r:id="rId25"/>
    </p:embeddedFont>
    <p:embeddedFont>
      <p:font typeface="Pacifico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SourceCodePro-regular.fntdata"/><Relationship Id="rId21" Type="http://schemas.openxmlformats.org/officeDocument/2006/relationships/slide" Target="slides/slide16.xml"/><Relationship Id="rId24" Type="http://schemas.openxmlformats.org/officeDocument/2006/relationships/font" Target="fonts/SourceCodePro-italic.fntdata"/><Relationship Id="rId23" Type="http://schemas.openxmlformats.org/officeDocument/2006/relationships/font" Target="fonts/SourceCodePr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acifico-regular.fntdata"/><Relationship Id="rId25" Type="http://schemas.openxmlformats.org/officeDocument/2006/relationships/font" Target="fonts/SourceCodePr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74d9f0541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74d9f0541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74d9f05413_5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74d9f05413_5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d8704cb02b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d8704cb02b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74d9f054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74d9f054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4d9f0541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4d9f0541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4d9f0541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4d9f0541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85094757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85094757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74d9f0541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74d9f0541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74d9f05413_5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74d9f05413_5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74d9f0541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74d9f0541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74d9f0541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74d9f0541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74d9f0541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74d9f0541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74d9f0541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74d9f0541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4d9f05413_5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4d9f05413_5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d8704cb02b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d8704cb02b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with Subtitle">
  <p:cSld name="TITLE_AND_BOD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622350" y="1753200"/>
            <a:ext cx="17041200" cy="787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</a:defRPr>
            </a:lvl1pPr>
            <a:lvl2pPr lvl="1" rtl="0">
              <a:spcBef>
                <a:spcPts val="320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</a:defRPr>
            </a:lvl2pPr>
            <a:lvl3pPr lvl="2" rtl="0">
              <a:spcBef>
                <a:spcPts val="320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</a:defRPr>
            </a:lvl3pPr>
            <a:lvl4pPr lvl="3" rtl="0">
              <a:spcBef>
                <a:spcPts val="320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</a:defRPr>
            </a:lvl4pPr>
            <a:lvl5pPr lvl="4" rtl="0">
              <a:spcBef>
                <a:spcPts val="320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</a:defRPr>
            </a:lvl5pPr>
            <a:lvl6pPr lvl="5" rtl="0">
              <a:spcBef>
                <a:spcPts val="320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</a:defRPr>
            </a:lvl6pPr>
            <a:lvl7pPr lvl="6" rtl="0">
              <a:spcBef>
                <a:spcPts val="320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</a:defRPr>
            </a:lvl7pPr>
            <a:lvl8pPr lvl="7" rtl="0">
              <a:spcBef>
                <a:spcPts val="320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</a:defRPr>
            </a:lvl8pPr>
            <a:lvl9pPr lvl="8" rtl="0">
              <a:spcBef>
                <a:spcPts val="3200"/>
              </a:spcBef>
              <a:spcAft>
                <a:spcPts val="3200"/>
              </a:spcAft>
              <a:buNone/>
              <a:defRPr sz="24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623400" y="2728850"/>
            <a:ext cx="17041200" cy="6409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7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rtl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rtl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rtl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rtl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rtl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rtl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rtl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rtl="0"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AUTOLAYOU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50" y="0"/>
            <a:ext cx="18287964" cy="6555600"/>
          </a:xfrm>
          <a:prstGeom prst="flowChartDocumen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>
            <p:ph type="ctrTitle"/>
          </p:nvPr>
        </p:nvSpPr>
        <p:spPr>
          <a:xfrm>
            <a:off x="623400" y="7098200"/>
            <a:ext cx="16195200" cy="1326600"/>
          </a:xfrm>
          <a:prstGeom prst="rect">
            <a:avLst/>
          </a:prstGeom>
          <a:noFill/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623400" y="8498800"/>
            <a:ext cx="16195200" cy="1036800"/>
          </a:xfrm>
          <a:prstGeom prst="rect">
            <a:avLst/>
          </a:prstGeom>
          <a:noFill/>
        </p:spPr>
        <p:txBody>
          <a:bodyPr anchorCtr="0" anchor="t" bIns="182850" lIns="182850" spcFirstLastPara="1" rIns="18285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7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3200"/>
              </a:spcBef>
              <a:spcAft>
                <a:spcPts val="320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5983050" y="0"/>
            <a:ext cx="2304948" cy="230494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bjectpascal.foundation" TargetMode="External"/><Relationship Id="rId4" Type="http://schemas.openxmlformats.org/officeDocument/2006/relationships/hyperlink" Target="https://github.com/ObjectPascalFoundation/ObjectPascalFoundation.github.io" TargetMode="External"/><Relationship Id="rId5" Type="http://schemas.openxmlformats.org/officeDocument/2006/relationships/hyperlink" Target="https://forms.gle/pJPGQQDrjyfLV7ph8" TargetMode="External"/><Relationship Id="rId6" Type="http://schemas.openxmlformats.org/officeDocument/2006/relationships/hyperlink" Target="https://docs.google.com/spreadsheets/d/1oXwdOnpCq72nWowF1AEh-m5ykCT6yfxJ3AVEXtvjL4U/" TargetMode="External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3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908775" y="2198700"/>
            <a:ext cx="14379226" cy="808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/>
        </p:nvSpPr>
        <p:spPr>
          <a:xfrm>
            <a:off x="0" y="0"/>
            <a:ext cx="18287964" cy="6555492"/>
          </a:xfrm>
          <a:prstGeom prst="flowChartDocumen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 b="-431" l="0" r="0" t="34061"/>
          <a:stretch/>
        </p:blipFill>
        <p:spPr>
          <a:xfrm>
            <a:off x="25" y="22551"/>
            <a:ext cx="18287964" cy="6403860"/>
          </a:xfrm>
          <a:prstGeom prst="flowChartDocumen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type="ctrTitle"/>
          </p:nvPr>
        </p:nvSpPr>
        <p:spPr>
          <a:xfrm>
            <a:off x="623400" y="7098200"/>
            <a:ext cx="9483000" cy="1326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Pascal Foundation</a:t>
            </a:r>
            <a:endParaRPr/>
          </a:p>
        </p:txBody>
      </p:sp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623400" y="8498800"/>
            <a:ext cx="8972400" cy="1326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Draft Proposal | 2024-04-21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Jim McKeeth | jim@mckeeth.org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5">
            <a:alphaModFix/>
          </a:blip>
          <a:srcRect b="31002" l="6073" r="-29499" t="25777"/>
          <a:stretch/>
        </p:blipFill>
        <p:spPr>
          <a:xfrm>
            <a:off x="50" y="22561"/>
            <a:ext cx="18287964" cy="6403860"/>
          </a:xfrm>
          <a:prstGeom prst="flowChartDocumen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Disclaimer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685800" lvl="0" marL="9144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This is a draft proposal and does not necessarily represent the opinions or plans of any other individual or organization that may or may not have contributed or commented on this proposal</a:t>
            </a:r>
            <a:endParaRPr/>
          </a:p>
          <a:p>
            <a:pPr indent="-685800" lvl="0" marL="914400" rtl="0" algn="l">
              <a:spcBef>
                <a:spcPts val="2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As this is an early draft proposal, it is subject to change as the conversation evolves</a:t>
            </a:r>
            <a:endParaRPr/>
          </a:p>
          <a:p>
            <a:pPr indent="-685800" lvl="0" marL="914400" rtl="0" algn="l">
              <a:spcBef>
                <a:spcPts val="2000"/>
              </a:spcBef>
              <a:spcAft>
                <a:spcPts val="2000"/>
              </a:spcAft>
              <a:buSzPts val="3600"/>
              <a:buChar char="●"/>
            </a:pPr>
            <a:r>
              <a:rPr lang="en"/>
              <a:t>Expressing interest in the foundation doesn't indicate endorsement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Outline/Overview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Propositions</a:t>
            </a:r>
            <a:endParaRPr sz="4000"/>
          </a:p>
          <a:p>
            <a:pPr indent="-482600" lvl="0" marL="457200" rtl="0" algn="l">
              <a:spcBef>
                <a:spcPts val="10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Goals &amp; Non-Goals</a:t>
            </a:r>
            <a:endParaRPr sz="4000"/>
          </a:p>
          <a:p>
            <a:pPr indent="-482600" lvl="0" marL="457200" rtl="0" algn="l">
              <a:spcBef>
                <a:spcPts val="10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Competition</a:t>
            </a:r>
            <a:endParaRPr sz="4000"/>
          </a:p>
          <a:p>
            <a:pPr indent="-482600" lvl="0" marL="457200" rtl="0" algn="l">
              <a:spcBef>
                <a:spcPts val="10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Naming</a:t>
            </a:r>
            <a:endParaRPr sz="4000"/>
          </a:p>
          <a:p>
            <a:pPr indent="-482600" lvl="0" marL="457200" rtl="0" algn="l">
              <a:spcBef>
                <a:spcPts val="10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Potential Members</a:t>
            </a:r>
            <a:endParaRPr sz="4000"/>
          </a:p>
          <a:p>
            <a:pPr indent="-482600" lvl="0" marL="457200" rtl="0" algn="l">
              <a:spcBef>
                <a:spcPts val="10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Outcomes &amp; Objectives</a:t>
            </a:r>
            <a:endParaRPr sz="4000"/>
          </a:p>
          <a:p>
            <a:pPr indent="-482600" lvl="0" marL="457200" rtl="0" algn="l">
              <a:spcBef>
                <a:spcPts val="100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Why the Icosahedron?</a:t>
            </a:r>
            <a:endParaRPr sz="4000"/>
          </a:p>
          <a:p>
            <a:pPr indent="-482600" lvl="0" marL="457200" rtl="0" algn="l">
              <a:spcBef>
                <a:spcPts val="1000"/>
              </a:spcBef>
              <a:spcAft>
                <a:spcPts val="1000"/>
              </a:spcAft>
              <a:buSzPts val="4000"/>
              <a:buChar char="●"/>
            </a:pPr>
            <a:r>
              <a:rPr lang="en" sz="4000"/>
              <a:t>Next Steps… </a:t>
            </a:r>
            <a:endParaRPr sz="4000"/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4637" l="28274" r="0" t="24792"/>
          <a:stretch/>
        </p:blipFill>
        <p:spPr>
          <a:xfrm>
            <a:off x="11139750" y="2035450"/>
            <a:ext cx="7148249" cy="82477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623400" y="8743350"/>
            <a:ext cx="12503400" cy="15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This is less of a presentation, and more of an outline organized on slides.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Feel free to comment (request access if you are unable to comment.)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623400" y="890050"/>
            <a:ext cx="151704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623400" y="2304950"/>
            <a:ext cx="83229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Share these slides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Website coming soon </a:t>
            </a:r>
            <a:endParaRPr/>
          </a:p>
          <a:p>
            <a:pPr indent="-406400" lvl="1" marL="914400" rtl="0" algn="l">
              <a:spcBef>
                <a:spcPts val="1000"/>
              </a:spcBef>
              <a:spcAft>
                <a:spcPts val="0"/>
              </a:spcAft>
              <a:buSzPts val="28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objectpascal.foundation</a:t>
            </a:r>
            <a:r>
              <a:rPr lang="en"/>
              <a:t> </a:t>
            </a:r>
            <a:endParaRPr/>
          </a:p>
          <a:p>
            <a:pPr indent="-406400" lvl="1" marL="914400" rtl="0" algn="l">
              <a:spcBef>
                <a:spcPts val="1000"/>
              </a:spcBef>
              <a:spcAft>
                <a:spcPts val="0"/>
              </a:spcAft>
              <a:buSzPts val="28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github.com/ObjectPascalFoundation/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36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Sign-up</a:t>
            </a:r>
            <a:r>
              <a:rPr lang="en"/>
              <a:t> for more information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List of </a:t>
            </a:r>
            <a:r>
              <a:rPr lang="en" u="sng">
                <a:solidFill>
                  <a:schemeClr val="hlink"/>
                </a:solidFill>
                <a:hlinkClick r:id="rId6"/>
              </a:rPr>
              <a:t>respondents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328924" y="1543638"/>
            <a:ext cx="7199724" cy="719972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/>
          <p:nvPr/>
        </p:nvSpPr>
        <p:spPr>
          <a:xfrm>
            <a:off x="15793700" y="0"/>
            <a:ext cx="2494200" cy="195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Ideas/P</a:t>
            </a:r>
            <a:r>
              <a:rPr lang="en"/>
              <a:t>ropositions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685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Object Pascal, in its various flavors/dialects/implementations, is a powerful, modern, and useful language</a:t>
            </a:r>
            <a:endParaRPr/>
          </a:p>
          <a:p>
            <a:pPr indent="-685800" lvl="0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Object Pascal is a family of languages with different names and features</a:t>
            </a:r>
            <a:endParaRPr/>
          </a:p>
          <a:p>
            <a:pPr indent="-685800" lvl="0" marL="914400" rtl="0" algn="l">
              <a:spcBef>
                <a:spcPts val="8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Object Pascal is bigger than any one of the organizations involved</a:t>
            </a:r>
            <a:endParaRPr/>
          </a:p>
          <a:p>
            <a:pPr indent="-685800" lvl="0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Most developers use more than one development tool; either within a single project or across multiple projects</a:t>
            </a:r>
            <a:endParaRPr/>
          </a:p>
          <a:p>
            <a:pPr indent="-685800" lvl="0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There is value in developers having access to multiple Object Pascal tools</a:t>
            </a:r>
            <a:endParaRPr/>
          </a:p>
          <a:p>
            <a:pPr indent="-685800" lvl="0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W</a:t>
            </a:r>
            <a:r>
              <a:rPr lang="en"/>
              <a:t>ithin the larger developer community m</a:t>
            </a:r>
            <a:r>
              <a:rPr lang="en"/>
              <a:t>ore can be done to promote Object Pascal as a whole (common syntax highlighting, tutorials, etc.)</a:t>
            </a:r>
            <a:endParaRPr/>
          </a:p>
          <a:p>
            <a:pPr indent="-685800" lvl="0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Collaboration is a good thing - when we work together we each reach further</a:t>
            </a:r>
            <a:endParaRPr/>
          </a:p>
          <a:p>
            <a:pPr indent="-685800" lvl="0" marL="9144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3600"/>
              <a:buChar char="●"/>
            </a:pPr>
            <a:r>
              <a:rPr lang="en"/>
              <a:t>Promoting the good in each is better than emphasizing the bad in the others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685800" lvl="0" marL="9144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Show Object Pascal is alive, modern, useful, and evolving</a:t>
            </a:r>
            <a:endParaRPr/>
          </a:p>
          <a:p>
            <a:pPr indent="-685800" lvl="0" marL="914400" rtl="0" algn="l">
              <a:spcBef>
                <a:spcPts val="120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highlight>
                  <a:srgbClr val="FFFF00"/>
                </a:highlight>
              </a:rPr>
              <a:t>Answer </a:t>
            </a:r>
            <a:r>
              <a:rPr i="1" lang="en">
                <a:highlight>
                  <a:srgbClr val="FFFF00"/>
                </a:highlight>
              </a:rPr>
              <a:t>“Why Object Pascal?”</a:t>
            </a:r>
            <a:r>
              <a:rPr lang="en">
                <a:highlight>
                  <a:srgbClr val="FFFF00"/>
                </a:highlight>
              </a:rPr>
              <a:t> with a </a:t>
            </a:r>
            <a:r>
              <a:rPr b="1" i="1" lang="en">
                <a:highlight>
                  <a:srgbClr val="FFFF00"/>
                </a:highlight>
              </a:rPr>
              <a:t>hurrah </a:t>
            </a:r>
            <a:r>
              <a:rPr lang="en">
                <a:highlight>
                  <a:srgbClr val="FFFF00"/>
                </a:highlight>
              </a:rPr>
              <a:t>instead</a:t>
            </a:r>
            <a:r>
              <a:rPr lang="en">
                <a:highlight>
                  <a:srgbClr val="FFFF00"/>
                </a:highlight>
              </a:rPr>
              <a:t> of an </a:t>
            </a:r>
            <a:r>
              <a:rPr i="1" lang="en">
                <a:highlight>
                  <a:srgbClr val="FFFF00"/>
                </a:highlight>
              </a:rPr>
              <a:t>apology</a:t>
            </a:r>
            <a:endParaRPr>
              <a:highlight>
                <a:srgbClr val="FFFF00"/>
              </a:highlight>
            </a:endParaRPr>
          </a:p>
          <a:p>
            <a:pPr indent="-685800" lvl="0" marL="914400" rtl="0" algn="l">
              <a:spcBef>
                <a:spcPts val="12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Promote all Object Pascal implementations</a:t>
            </a:r>
            <a:endParaRPr/>
          </a:p>
          <a:p>
            <a:pPr indent="-635000" lvl="1" marL="18288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"/>
              <a:t>For development, education, research, etc.</a:t>
            </a:r>
            <a:endParaRPr/>
          </a:p>
          <a:p>
            <a:pPr indent="-685800" lvl="0" marL="914400" rtl="0" algn="l">
              <a:spcBef>
                <a:spcPts val="12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Expand acceptance and support of Object Pascal in tools and online</a:t>
            </a:r>
            <a:endParaRPr/>
          </a:p>
          <a:p>
            <a:pPr indent="-685800" lvl="0" marL="914400" rtl="0" algn="l">
              <a:spcBef>
                <a:spcPts val="12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Collaborate for the future of Object Pascal</a:t>
            </a:r>
            <a:endParaRPr/>
          </a:p>
          <a:p>
            <a:pPr indent="-685800" lvl="0" marL="914400" rtl="0" algn="l">
              <a:spcBef>
                <a:spcPts val="12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Create a consolidated directory of Object Pascal related &amp; supporting tools</a:t>
            </a:r>
            <a:endParaRPr/>
          </a:p>
          <a:p>
            <a:pPr indent="-685800" lvl="0" marL="914400" rtl="0" algn="l">
              <a:spcBef>
                <a:spcPts val="12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Promote each implementation/tool without the need to attack or </a:t>
            </a:r>
            <a:r>
              <a:rPr lang="en"/>
              <a:t>denigrate</a:t>
            </a:r>
            <a:endParaRPr/>
          </a:p>
          <a:p>
            <a:pPr indent="-685800" lvl="0" marL="914400" rtl="0" algn="l">
              <a:spcBef>
                <a:spcPts val="12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Focus on individual strengths and features </a:t>
            </a:r>
            <a:endParaRPr/>
          </a:p>
          <a:p>
            <a:pPr indent="-685800" lvl="0" marL="914400" rtl="0" algn="l">
              <a:spcBef>
                <a:spcPts val="12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Promote interoperability and compatibility where it exists</a:t>
            </a:r>
            <a:endParaRPr/>
          </a:p>
          <a:p>
            <a:pPr indent="-685800" lvl="0" marL="914400" rtl="0" algn="l">
              <a:spcBef>
                <a:spcPts val="1200"/>
              </a:spcBef>
              <a:spcAft>
                <a:spcPts val="1200"/>
              </a:spcAft>
              <a:buSzPts val="3600"/>
              <a:buChar char="●"/>
            </a:pPr>
            <a:r>
              <a:rPr lang="en"/>
              <a:t>Embrace and celebrate the future of Object Pascal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 “</a:t>
            </a:r>
            <a:r>
              <a:rPr lang="en"/>
              <a:t>Standard</a:t>
            </a:r>
            <a:r>
              <a:rPr lang="en"/>
              <a:t>” and Not a “Regulation”</a:t>
            </a:r>
            <a:endParaRPr/>
          </a:p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623400" y="2610550"/>
            <a:ext cx="17041200" cy="68061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685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Not creating a “standard” that </a:t>
            </a:r>
            <a:r>
              <a:rPr lang="en"/>
              <a:t>implementations</a:t>
            </a:r>
            <a:r>
              <a:rPr lang="en"/>
              <a:t> </a:t>
            </a:r>
            <a:r>
              <a:rPr i="1" lang="en"/>
              <a:t>should </a:t>
            </a:r>
            <a:r>
              <a:rPr lang="en"/>
              <a:t>follow</a:t>
            </a:r>
            <a:endParaRPr/>
          </a:p>
          <a:p>
            <a:pPr indent="-635000" lvl="1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"/>
              <a:t>This isn’t about taking </a:t>
            </a:r>
            <a:r>
              <a:rPr lang="en"/>
              <a:t>autonomy</a:t>
            </a:r>
            <a:r>
              <a:rPr lang="en"/>
              <a:t> away. Anyone can </a:t>
            </a:r>
            <a:r>
              <a:rPr lang="en"/>
              <a:t>implement</a:t>
            </a:r>
            <a:r>
              <a:rPr lang="en"/>
              <a:t> Object Pascal with the language features they want. How </a:t>
            </a:r>
            <a:r>
              <a:rPr lang="en"/>
              <a:t>implementers</a:t>
            </a:r>
            <a:r>
              <a:rPr lang="en"/>
              <a:t> choose to be compatible is up to them.</a:t>
            </a:r>
            <a:endParaRPr/>
          </a:p>
          <a:p>
            <a:pPr indent="-685800" lvl="0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No regulating how or what anyone calls their implementation</a:t>
            </a:r>
            <a:endParaRPr/>
          </a:p>
          <a:p>
            <a:pPr indent="-635000" lvl="1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"/>
              <a:t>If some decides their Object Pascal based language is now called Steve and isn’t Object Pascal that is their choice.</a:t>
            </a:r>
            <a:endParaRPr/>
          </a:p>
          <a:p>
            <a:pPr indent="-635000" lvl="1" marL="18288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2800"/>
              <a:buChar char="○"/>
            </a:pPr>
            <a:r>
              <a:rPr lang="en"/>
              <a:t>Likewise if someone makes a </a:t>
            </a:r>
            <a:r>
              <a:rPr lang="en"/>
              <a:t>language</a:t>
            </a:r>
            <a:r>
              <a:rPr lang="en"/>
              <a:t> that looks like C, but they want to say it is Object Pascal based/influenced that is fine too.</a:t>
            </a:r>
            <a:endParaRPr/>
          </a:p>
          <a:p>
            <a:pPr indent="-685800" lvl="0" marL="9144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Not restrict the behaviors or actions of members</a:t>
            </a:r>
            <a:endParaRPr/>
          </a:p>
          <a:p>
            <a:pPr indent="-635000" lvl="1" marL="1828800" rtl="0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SzPts val="2800"/>
              <a:buChar char="○"/>
            </a:pPr>
            <a:r>
              <a:rPr lang="en"/>
              <a:t>We do ask that foundation members not </a:t>
            </a:r>
            <a:r>
              <a:rPr lang="en"/>
              <a:t>denigrate</a:t>
            </a:r>
            <a:r>
              <a:rPr lang="en"/>
              <a:t> other implementations, but the </a:t>
            </a:r>
            <a:r>
              <a:rPr lang="en"/>
              <a:t>foundation </a:t>
            </a:r>
            <a:r>
              <a:rPr lang="en"/>
              <a:t> does not restrict or </a:t>
            </a:r>
            <a:r>
              <a:rPr lang="en"/>
              <a:t>censure member </a:t>
            </a:r>
            <a:r>
              <a:rPr lang="en"/>
              <a:t>actions. </a:t>
            </a:r>
            <a:endParaRPr/>
          </a:p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622350" y="1743600"/>
            <a:ext cx="16324800" cy="796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lang="en" sz="2800"/>
              <a:t>These are non-goals and things </a:t>
            </a:r>
            <a:r>
              <a:rPr lang="en" sz="2800">
                <a:solidFill>
                  <a:schemeClr val="dk1"/>
                </a:solidFill>
              </a:rPr>
              <a:t>specifically avoided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" type="subTitle"/>
          </p:nvPr>
        </p:nvSpPr>
        <p:spPr>
          <a:xfrm>
            <a:off x="622350" y="1753200"/>
            <a:ext cx="17041200" cy="787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lang="en"/>
              <a:t>The “don’t call it a standard” standard - but maybe eventually call it a standard if everyone agrees.</a:t>
            </a:r>
            <a:endParaRPr/>
          </a:p>
        </p:txBody>
      </p:sp>
      <p:sp>
        <p:nvSpPr>
          <p:cNvPr id="118" name="Google Shape;118;p22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Formalized Definition of Interoperability</a:t>
            </a:r>
            <a:endParaRPr/>
          </a:p>
        </p:txBody>
      </p:sp>
      <p:sp>
        <p:nvSpPr>
          <p:cNvPr id="119" name="Google Shape;119;p22"/>
          <p:cNvSpPr txBox="1"/>
          <p:nvPr>
            <p:ph idx="2" type="body"/>
          </p:nvPr>
        </p:nvSpPr>
        <p:spPr>
          <a:xfrm>
            <a:off x="623400" y="2728850"/>
            <a:ext cx="17041200" cy="6409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Languages should be slow to add features since they are hard to remove once developers are using them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Delphi and Object Pascal have a strong focus on backward compatibility.</a:t>
            </a:r>
            <a:endParaRPr/>
          </a:p>
          <a:p>
            <a:pPr indent="-457200" lvl="0" marL="914400" rtl="0" algn="l">
              <a:spcBef>
                <a:spcPts val="100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Formalize the superset of language syntax and features used by all implementations</a:t>
            </a:r>
            <a:endParaRPr/>
          </a:p>
          <a:p>
            <a:pPr indent="-457200" lvl="0" marL="914400" rtl="0" algn="l">
              <a:spcBef>
                <a:spcPts val="100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Select what everyone agrees on as the “definition”</a:t>
            </a:r>
            <a:endParaRPr/>
          </a:p>
          <a:p>
            <a:pPr indent="-457200" lvl="0" marL="914400" rtl="0" algn="l">
              <a:spcBef>
                <a:spcPts val="100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Conversations can take place on how to </a:t>
            </a:r>
            <a:r>
              <a:rPr lang="en"/>
              <a:t>improve compatibility and interoperability, and how to move the language forward</a:t>
            </a:r>
            <a:endParaRPr/>
          </a:p>
          <a:p>
            <a:pPr indent="-457200" lvl="0" marL="914400" rtl="0" algn="l">
              <a:spcBef>
                <a:spcPts val="1000"/>
              </a:spcBef>
              <a:spcAft>
                <a:spcPts val="1000"/>
              </a:spcAft>
              <a:buSzPts val="3600"/>
              <a:buAutoNum type="arabicPeriod"/>
            </a:pPr>
            <a:r>
              <a:rPr lang="en"/>
              <a:t>Potentially two definitions: One for scripting OP implementations and one for non-scripting implementations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is the </a:t>
            </a:r>
            <a:r>
              <a:rPr b="1" i="1" lang="en"/>
              <a:t>Best </a:t>
            </a:r>
            <a:r>
              <a:rPr lang="en"/>
              <a:t>Object Pascal?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623400" y="2304950"/>
            <a:ext cx="17041200" cy="72867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685800" lvl="0" marL="9144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This is an </a:t>
            </a:r>
            <a:r>
              <a:rPr lang="en"/>
              <a:t>irrelevant</a:t>
            </a:r>
            <a:r>
              <a:rPr lang="en"/>
              <a:t> question</a:t>
            </a:r>
            <a:endParaRPr/>
          </a:p>
          <a:p>
            <a:pPr indent="-685800" lvl="0" marL="914400" rtl="0" algn="l">
              <a:spcBef>
                <a:spcPts val="2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Each implementor has different goals and can believe and state theirs is the best at reaching their goals</a:t>
            </a:r>
            <a:endParaRPr/>
          </a:p>
          <a:p>
            <a:pPr indent="-685800" lvl="0" marL="914400" rtl="0" algn="l">
              <a:spcBef>
                <a:spcPts val="2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There are obvious overlaps in goals. There is nothing wrong with saying: </a:t>
            </a:r>
            <a:br>
              <a:rPr lang="en"/>
            </a:br>
            <a:r>
              <a:rPr lang="en"/>
              <a:t>“we believe we are the best or better because we do the following …..”</a:t>
            </a:r>
            <a:endParaRPr/>
          </a:p>
          <a:p>
            <a:pPr indent="-685800" lvl="0" marL="914400" rtl="0" algn="l">
              <a:spcBef>
                <a:spcPts val="2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Focusing on your strengths is better than saying </a:t>
            </a:r>
            <a:r>
              <a:rPr i="1" lang="en"/>
              <a:t>“we are better because the other implementations are bad.”</a:t>
            </a:r>
            <a:r>
              <a:rPr lang="en"/>
              <a:t> </a:t>
            </a:r>
            <a:endParaRPr/>
          </a:p>
          <a:p>
            <a:pPr indent="-635000" lvl="1" marL="1828800" rtl="0" algn="l">
              <a:spcBef>
                <a:spcPts val="2000"/>
              </a:spcBef>
              <a:spcAft>
                <a:spcPts val="0"/>
              </a:spcAft>
              <a:buSzPts val="2800"/>
              <a:buChar char="○"/>
            </a:pPr>
            <a:r>
              <a:rPr lang="en"/>
              <a:t>If you are only </a:t>
            </a:r>
            <a:r>
              <a:rPr i="1" lang="en"/>
              <a:t>better </a:t>
            </a:r>
            <a:r>
              <a:rPr lang="en"/>
              <a:t>by comparison with something that is </a:t>
            </a:r>
            <a:r>
              <a:rPr i="1" lang="en"/>
              <a:t>bad,</a:t>
            </a:r>
            <a:r>
              <a:rPr lang="en"/>
              <a:t> then you aren’t very </a:t>
            </a:r>
            <a:r>
              <a:rPr i="1" lang="en"/>
              <a:t>good</a:t>
            </a:r>
            <a:endParaRPr i="1"/>
          </a:p>
          <a:p>
            <a:pPr indent="-685800" lvl="0" marL="914400" rtl="0" algn="l">
              <a:spcBef>
                <a:spcPts val="2000"/>
              </a:spcBef>
              <a:spcAft>
                <a:spcPts val="2000"/>
              </a:spcAft>
              <a:buSzPts val="3600"/>
              <a:buChar char="●"/>
            </a:pPr>
            <a:r>
              <a:rPr lang="en"/>
              <a:t>McDonalds and Burger King never criticize hamburgers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Competition!?!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623400" y="2304950"/>
            <a:ext cx="153597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685800" lvl="0" marL="9144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Programming languages and tools is not a zero sum game</a:t>
            </a:r>
            <a:endParaRPr/>
          </a:p>
          <a:p>
            <a:pPr indent="-685800" lvl="0" marL="914400" rtl="0" algn="l">
              <a:spcBef>
                <a:spcPts val="2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One does not have to lose for another to win</a:t>
            </a:r>
            <a:endParaRPr/>
          </a:p>
          <a:p>
            <a:pPr indent="-685800" lvl="0" marL="914400" rtl="0" algn="l">
              <a:spcBef>
                <a:spcPts val="200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highlight>
                  <a:srgbClr val="FFFF00"/>
                </a:highlight>
              </a:rPr>
              <a:t>A developer is more likely to choose Object Pascal if they see multiple options/vendors supporting them</a:t>
            </a:r>
            <a:endParaRPr>
              <a:highlight>
                <a:srgbClr val="FFFF00"/>
              </a:highlight>
            </a:endParaRPr>
          </a:p>
          <a:p>
            <a:pPr indent="-685800" lvl="0" marL="914400" rtl="0" algn="l">
              <a:spcBef>
                <a:spcPts val="2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Apple, Google, Microsoft, and Samsung all compete, and work together</a:t>
            </a:r>
            <a:endParaRPr/>
          </a:p>
          <a:p>
            <a:pPr indent="-685800" lvl="0" marL="914400" rtl="0" algn="l">
              <a:spcBef>
                <a:spcPts val="2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Competition is a good thing - this isn’t about price fixing or other anti-competitive practices</a:t>
            </a:r>
            <a:endParaRPr/>
          </a:p>
          <a:p>
            <a:pPr indent="-685800" lvl="0" marL="914400" rtl="0" algn="l">
              <a:spcBef>
                <a:spcPts val="2000"/>
              </a:spcBef>
              <a:spcAft>
                <a:spcPts val="2000"/>
              </a:spcAft>
              <a:buSzPts val="3600"/>
              <a:buChar char="●"/>
            </a:pPr>
            <a:r>
              <a:rPr lang="en"/>
              <a:t>McDonalds and Burger King never criticize burgers</a:t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 rotWithShape="1">
          <a:blip r:embed="rId3">
            <a:alphaModFix/>
          </a:blip>
          <a:srcRect b="0" l="31112" r="31359" t="0"/>
          <a:stretch/>
        </p:blipFill>
        <p:spPr>
          <a:xfrm>
            <a:off x="15271425" y="2304950"/>
            <a:ext cx="2705600" cy="720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4191750" y="1593850"/>
            <a:ext cx="3951825" cy="869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Pascal vs. Pascal 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623400" y="2304950"/>
            <a:ext cx="14128500" cy="5776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685800" lvl="0" marL="9144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Object Pascal is the evolution of Pascal </a:t>
            </a:r>
            <a:endParaRPr/>
          </a:p>
          <a:p>
            <a:pPr indent="-685800" lvl="0" marL="914400" rtl="0" algn="l">
              <a:spcBef>
                <a:spcPts val="2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Object Pascal is a family of implementations and dialects</a:t>
            </a:r>
            <a:endParaRPr/>
          </a:p>
          <a:p>
            <a:pPr indent="-685800" lvl="0" marL="914400" rtl="0" algn="l">
              <a:spcBef>
                <a:spcPts val="2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The preference for naming is Object Pascal (or OP), but dialects and </a:t>
            </a:r>
            <a:r>
              <a:rPr lang="en"/>
              <a:t>implementations</a:t>
            </a:r>
            <a:r>
              <a:rPr lang="en"/>
              <a:t> are welcome to use other names</a:t>
            </a:r>
            <a:endParaRPr/>
          </a:p>
          <a:p>
            <a:pPr indent="-685800" lvl="0" marL="914400" rtl="0" algn="l">
              <a:spcBef>
                <a:spcPts val="2000"/>
              </a:spcBef>
              <a:spcAft>
                <a:spcPts val="2000"/>
              </a:spcAft>
              <a:buSzPts val="3600"/>
              <a:buChar char="●"/>
            </a:pPr>
            <a:r>
              <a:rPr lang="en"/>
              <a:t>Component Pascal, Modula, Oberon, etc. may also belong (if </a:t>
            </a:r>
            <a:r>
              <a:rPr lang="en"/>
              <a:t>implementers</a:t>
            </a:r>
            <a:r>
              <a:rPr lang="en"/>
              <a:t> want to….) </a:t>
            </a:r>
            <a:endParaRPr/>
          </a:p>
        </p:txBody>
      </p:sp>
      <p:sp>
        <p:nvSpPr>
          <p:cNvPr id="140" name="Google Shape;140;p25"/>
          <p:cNvSpPr txBox="1"/>
          <p:nvPr/>
        </p:nvSpPr>
        <p:spPr>
          <a:xfrm>
            <a:off x="11853325" y="8305025"/>
            <a:ext cx="37452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acifico"/>
                <a:ea typeface="Pacifico"/>
                <a:cs typeface="Pacifico"/>
                <a:sym typeface="Pacifico"/>
              </a:rPr>
              <a:t>What's in a name? </a:t>
            </a:r>
            <a:br>
              <a:rPr lang="en" sz="2400">
                <a:latin typeface="Pacifico"/>
                <a:ea typeface="Pacifico"/>
                <a:cs typeface="Pacifico"/>
                <a:sym typeface="Pacifico"/>
              </a:rPr>
            </a:br>
            <a:r>
              <a:rPr lang="en" sz="2400">
                <a:latin typeface="Pacifico"/>
                <a:ea typeface="Pacifico"/>
                <a:cs typeface="Pacifico"/>
                <a:sym typeface="Pacifico"/>
              </a:rPr>
              <a:t>That which we call </a:t>
            </a:r>
            <a:br>
              <a:rPr lang="en" sz="2400">
                <a:latin typeface="Pacifico"/>
                <a:ea typeface="Pacifico"/>
                <a:cs typeface="Pacifico"/>
                <a:sym typeface="Pacifico"/>
              </a:rPr>
            </a:br>
            <a:r>
              <a:rPr b="1" i="1" lang="en" sz="2500">
                <a:latin typeface="Pacifico"/>
                <a:ea typeface="Pacifico"/>
                <a:cs typeface="Pacifico"/>
                <a:sym typeface="Pacifico"/>
              </a:rPr>
              <a:t>Object Pascal </a:t>
            </a:r>
            <a:r>
              <a:rPr lang="en" sz="2400">
                <a:latin typeface="Pacifico"/>
                <a:ea typeface="Pacifico"/>
                <a:cs typeface="Pacifico"/>
                <a:sym typeface="Pacifico"/>
              </a:rPr>
              <a:t>by any other name would be as neat!</a:t>
            </a:r>
            <a:endParaRPr sz="24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Member Organizations/Implementations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623400" y="2304950"/>
            <a:ext cx="9880800" cy="7404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685800" lvl="0" marL="9144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Blaise Pascal</a:t>
            </a:r>
            <a:endParaRPr/>
          </a:p>
          <a:p>
            <a:pPr indent="-685800" lvl="0" marL="9144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DWScript</a:t>
            </a:r>
            <a:endParaRPr/>
          </a:p>
          <a:p>
            <a:pPr indent="-685800" lvl="0" marL="9144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Elevate Web Builder</a:t>
            </a:r>
            <a:endParaRPr/>
          </a:p>
          <a:p>
            <a:pPr indent="-685800" lvl="0" marL="9144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Embarcadero’s Delphi</a:t>
            </a:r>
            <a:endParaRPr/>
          </a:p>
          <a:p>
            <a:pPr indent="-685800" lvl="0" marL="9144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Fast Report’s Fast Script</a:t>
            </a:r>
            <a:endParaRPr sz="2800"/>
          </a:p>
          <a:p>
            <a:pPr indent="-685800" lvl="0" marL="9144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Free Pascal</a:t>
            </a:r>
            <a:endParaRPr/>
          </a:p>
          <a:p>
            <a:pPr indent="-685800" lvl="0" marL="9144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GNU Pascal</a:t>
            </a:r>
            <a:endParaRPr/>
          </a:p>
          <a:p>
            <a:pPr indent="-685800" lvl="0" marL="9144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Lazarus</a:t>
            </a:r>
            <a:endParaRPr/>
          </a:p>
          <a:p>
            <a:pPr indent="-685800" lvl="0" marL="9144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ModernPascal</a:t>
            </a:r>
            <a:endParaRPr/>
          </a:p>
          <a:p>
            <a:pPr indent="-685800" lvl="0" marL="914400" rtl="0" algn="l">
              <a:spcBef>
                <a:spcPts val="6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RemObjects’ Oxygene &amp; PascalScript</a:t>
            </a:r>
            <a:endParaRPr/>
          </a:p>
          <a:p>
            <a:pPr indent="-685800" lvl="0" marL="914400" rtl="0" algn="l">
              <a:spcBef>
                <a:spcPts val="600"/>
              </a:spcBef>
              <a:spcAft>
                <a:spcPts val="600"/>
              </a:spcAft>
              <a:buSzPts val="3600"/>
              <a:buChar char="●"/>
            </a:pPr>
            <a:r>
              <a:rPr lang="en"/>
              <a:t>Smart Mobile Studio</a:t>
            </a:r>
            <a:endParaRPr i="1"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9144000" y="2304950"/>
            <a:ext cx="85206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685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TMS WebCore</a:t>
            </a:r>
            <a:endParaRPr/>
          </a:p>
          <a:p>
            <a:pPr indent="-685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Utilibo</a:t>
            </a:r>
            <a:endParaRPr/>
          </a:p>
          <a:p>
            <a:pPr indent="-685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i="1" lang="en"/>
              <a:t>Other Object Pascal Scripting implementations</a:t>
            </a:r>
            <a:endParaRPr i="1"/>
          </a:p>
          <a:p>
            <a:pPr indent="-685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i="1" lang="en"/>
              <a:t>Other Object Pascal Compilers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623400" y="2304950"/>
            <a:ext cx="143241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685800" lvl="0" marL="9144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Website promoting Object Pascal and the F</a:t>
            </a:r>
            <a:r>
              <a:rPr lang="en"/>
              <a:t>oundation</a:t>
            </a:r>
            <a:endParaRPr/>
          </a:p>
          <a:p>
            <a:pPr indent="-685800" lvl="0" marL="914400" rtl="0" algn="l">
              <a:spcBef>
                <a:spcPts val="100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highlight>
                  <a:srgbClr val="FFFF00"/>
                </a:highlight>
              </a:rPr>
              <a:t>Answer “Why Object Pascal?” with a </a:t>
            </a:r>
            <a:r>
              <a:rPr b="1" i="1" lang="en">
                <a:highlight>
                  <a:srgbClr val="FFFF00"/>
                </a:highlight>
              </a:rPr>
              <a:t>hurrah </a:t>
            </a:r>
            <a:r>
              <a:rPr lang="en">
                <a:highlight>
                  <a:srgbClr val="FFFF00"/>
                </a:highlight>
              </a:rPr>
              <a:t>and not an </a:t>
            </a:r>
            <a:r>
              <a:rPr i="1" lang="en">
                <a:highlight>
                  <a:srgbClr val="FFFF00"/>
                </a:highlight>
              </a:rPr>
              <a:t>apology</a:t>
            </a:r>
            <a:endParaRPr i="1">
              <a:highlight>
                <a:srgbClr val="FFFF00"/>
              </a:highlight>
            </a:endParaRPr>
          </a:p>
          <a:p>
            <a:pPr indent="-685800" lvl="0" marL="914400" rtl="0" algn="l">
              <a:spcBef>
                <a:spcPts val="1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References on interoperability and compatibility</a:t>
            </a:r>
            <a:endParaRPr/>
          </a:p>
          <a:p>
            <a:pPr indent="-685800" lvl="0" marL="914400" rtl="0" algn="l">
              <a:spcBef>
                <a:spcPts val="1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Promote Object Pascal inclusion in other tools and directories</a:t>
            </a:r>
            <a:endParaRPr/>
          </a:p>
          <a:p>
            <a:pPr indent="-685800" lvl="0" marL="914400" rtl="0" algn="l">
              <a:spcBef>
                <a:spcPts val="1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Promote Object Pascal in Education, Industry, and Hobby</a:t>
            </a:r>
            <a:endParaRPr/>
          </a:p>
          <a:p>
            <a:pPr indent="-685800" lvl="0" marL="914400" rtl="0" algn="l">
              <a:spcBef>
                <a:spcPts val="1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Directory of members and their products</a:t>
            </a:r>
            <a:endParaRPr/>
          </a:p>
          <a:p>
            <a:pPr indent="-685800" lvl="0" marL="914400" rtl="0" algn="l">
              <a:spcBef>
                <a:spcPts val="1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Directory of tools supporting Object Pascal</a:t>
            </a:r>
            <a:endParaRPr/>
          </a:p>
          <a:p>
            <a:pPr indent="-685800" lvl="0" marL="914400" rtl="0" algn="l">
              <a:spcBef>
                <a:spcPts val="1000"/>
              </a:spcBef>
              <a:spcAft>
                <a:spcPts val="0"/>
              </a:spcAft>
              <a:buSzPts val="3600"/>
              <a:buChar char="●"/>
            </a:pPr>
            <a:r>
              <a:rPr lang="en"/>
              <a:t>Directory of clubs and community groups</a:t>
            </a:r>
            <a:endParaRPr/>
          </a:p>
          <a:p>
            <a:pPr indent="-685800" lvl="0" marL="914400" rtl="0" algn="l">
              <a:spcBef>
                <a:spcPts val="1000"/>
              </a:spcBef>
              <a:spcAft>
                <a:spcPts val="1000"/>
              </a:spcAft>
              <a:buSzPts val="3600"/>
              <a:buChar char="●"/>
            </a:pPr>
            <a:r>
              <a:rPr lang="en"/>
              <a:t>Directory of books and resources</a:t>
            </a:r>
            <a:endParaRPr/>
          </a:p>
        </p:txBody>
      </p:sp>
      <p:sp>
        <p:nvSpPr>
          <p:cNvPr id="153" name="Google Shape;153;p27"/>
          <p:cNvSpPr/>
          <p:nvPr/>
        </p:nvSpPr>
        <p:spPr>
          <a:xfrm>
            <a:off x="11149350" y="1774563"/>
            <a:ext cx="6219600" cy="6957000"/>
          </a:xfrm>
          <a:custGeom>
            <a:rect b="b" l="l" r="r" t="t"/>
            <a:pathLst>
              <a:path extrusionOk="0" h="278280" w="248784">
                <a:moveTo>
                  <a:pt x="0" y="278280"/>
                </a:moveTo>
                <a:cubicBezTo>
                  <a:pt x="14259" y="276394"/>
                  <a:pt x="66408" y="276081"/>
                  <a:pt x="85552" y="266966"/>
                </a:cubicBezTo>
                <a:cubicBezTo>
                  <a:pt x="104697" y="257851"/>
                  <a:pt x="98539" y="237867"/>
                  <a:pt x="114867" y="223591"/>
                </a:cubicBezTo>
                <a:cubicBezTo>
                  <a:pt x="131195" y="209315"/>
                  <a:pt x="170856" y="200148"/>
                  <a:pt x="183518" y="181311"/>
                </a:cubicBezTo>
                <a:cubicBezTo>
                  <a:pt x="196180" y="162474"/>
                  <a:pt x="180520" y="130074"/>
                  <a:pt x="190839" y="110569"/>
                </a:cubicBezTo>
                <a:cubicBezTo>
                  <a:pt x="201159" y="91064"/>
                  <a:pt x="236757" y="81846"/>
                  <a:pt x="245435" y="64283"/>
                </a:cubicBezTo>
                <a:cubicBezTo>
                  <a:pt x="254113" y="46720"/>
                  <a:pt x="243223" y="15454"/>
                  <a:pt x="242905" y="5191"/>
                </a:cubicBezTo>
                <a:cubicBezTo>
                  <a:pt x="242587" y="-5072"/>
                  <a:pt x="243423" y="3121"/>
                  <a:pt x="243526" y="2707"/>
                </a:cubicBezTo>
              </a:path>
            </a:pathLst>
          </a:custGeom>
          <a:noFill/>
          <a:ln cap="flat" cmpd="sng" w="7620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54" name="Google Shape;154;p27"/>
          <p:cNvSpPr txBox="1"/>
          <p:nvPr>
            <p:ph type="title"/>
          </p:nvPr>
        </p:nvSpPr>
        <p:spPr>
          <a:xfrm>
            <a:off x="623400" y="890050"/>
            <a:ext cx="157326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Outcomes</a:t>
            </a:r>
            <a:endParaRPr/>
          </a:p>
        </p:txBody>
      </p:sp>
      <p:pic>
        <p:nvPicPr>
          <p:cNvPr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19977" y="2564012"/>
            <a:ext cx="2514645" cy="251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33500" y="4352225"/>
            <a:ext cx="1582550" cy="15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47650" y="6259163"/>
            <a:ext cx="1727300" cy="172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65150" y="7758238"/>
            <a:ext cx="1727300" cy="172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623400" y="890050"/>
            <a:ext cx="122916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the Icosahedron</a:t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623400" y="2304950"/>
            <a:ext cx="13255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609600" lvl="0" marL="9144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3200"/>
              <a:t>The regular icosahedron has  20 faces, 30 edges and 12 vertices</a:t>
            </a:r>
            <a:endParaRPr sz="3200"/>
          </a:p>
          <a:p>
            <a:pPr indent="-609600" lvl="0" marL="9144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3200"/>
              <a:t>It is one of the five Platonic solids, and the one with the most sides</a:t>
            </a:r>
            <a:endParaRPr sz="3200"/>
          </a:p>
          <a:p>
            <a:pPr indent="-609600" lvl="1" marL="1828800" rtl="0" algn="l"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4-Tetrahedron, 6-Cube, 8-Octahedron, 10-Dodecahedron, 20-Icosahedron</a:t>
            </a:r>
            <a:endParaRPr sz="2400"/>
          </a:p>
          <a:p>
            <a:pPr indent="-609600" lvl="0" marL="9144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3200"/>
              <a:t>Blaise Pascal is known for Pascal’s Triangle, and the icosahedron is made up of triangular faces</a:t>
            </a:r>
            <a:endParaRPr sz="3200"/>
          </a:p>
          <a:p>
            <a:pPr indent="-609600" lvl="0" marL="9144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3200"/>
              <a:t>Blaise Pascal contributed to probability theory, and since ancient times the icosahedron has been used as a twenty sided dice </a:t>
            </a:r>
            <a:endParaRPr sz="3200"/>
          </a:p>
          <a:p>
            <a:pPr indent="-609600" lvl="0" marL="9144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3200"/>
              <a:t>Just as an icosahedron has many sides, so does the Object Pascal Foundation</a:t>
            </a:r>
            <a:endParaRPr sz="3200"/>
          </a:p>
          <a:p>
            <a:pPr indent="-660400" lvl="0" marL="914400" rtl="0" algn="l">
              <a:spcBef>
                <a:spcPts val="1000"/>
              </a:spcBef>
              <a:spcAft>
                <a:spcPts val="0"/>
              </a:spcAft>
              <a:buSzPts val="3200"/>
              <a:buChar char="●"/>
            </a:pPr>
            <a:r>
              <a:rPr lang="en" sz="3200"/>
              <a:t>All the sides of the icosahedron work together as one</a:t>
            </a:r>
            <a:endParaRPr sz="3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3200"/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20915" y="0"/>
            <a:ext cx="4248252" cy="424825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8"/>
          <p:cNvSpPr txBox="1"/>
          <p:nvPr/>
        </p:nvSpPr>
        <p:spPr>
          <a:xfrm>
            <a:off x="13835539" y="9615600"/>
            <a:ext cx="43362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Twenty-sided die from Ptolemaic Egypt</a:t>
            </a:r>
            <a:endParaRPr sz="1600"/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97466" y="6398400"/>
            <a:ext cx="3695150" cy="370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00740" y="3663350"/>
            <a:ext cx="2688600" cy="248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 txBox="1"/>
          <p:nvPr/>
        </p:nvSpPr>
        <p:spPr>
          <a:xfrm>
            <a:off x="14297491" y="6137875"/>
            <a:ext cx="36951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Pascal’s Triangle</a:t>
            </a:r>
            <a:r>
              <a:rPr lang="en" sz="1600"/>
              <a:t> - </a:t>
            </a:r>
            <a:r>
              <a:rPr lang="en" sz="1600"/>
              <a:t>a triangular array of the binomial coefficients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9"/>
          <p:cNvPicPr preferRelativeResize="0"/>
          <p:nvPr/>
        </p:nvPicPr>
        <p:blipFill rotWithShape="1">
          <a:blip r:embed="rId3">
            <a:alphaModFix/>
          </a:blip>
          <a:srcRect b="43072" l="0" r="36984" t="0"/>
          <a:stretch/>
        </p:blipFill>
        <p:spPr>
          <a:xfrm>
            <a:off x="14446550" y="6828525"/>
            <a:ext cx="3841450" cy="3470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29"/>
          <p:cNvGrpSpPr/>
          <p:nvPr/>
        </p:nvGrpSpPr>
        <p:grpSpPr>
          <a:xfrm>
            <a:off x="6536698" y="-47126"/>
            <a:ext cx="11751302" cy="10345901"/>
            <a:chOff x="6536698" y="-47126"/>
            <a:chExt cx="11751302" cy="10345901"/>
          </a:xfrm>
        </p:grpSpPr>
        <p:pic>
          <p:nvPicPr>
            <p:cNvPr id="176" name="Google Shape;176;p29"/>
            <p:cNvPicPr preferRelativeResize="0"/>
            <p:nvPr/>
          </p:nvPicPr>
          <p:blipFill rotWithShape="1">
            <a:blip r:embed="rId4">
              <a:alphaModFix/>
            </a:blip>
            <a:srcRect b="0" l="0" r="28744" t="0"/>
            <a:stretch/>
          </p:blipFill>
          <p:spPr>
            <a:xfrm>
              <a:off x="6560275" y="0"/>
              <a:ext cx="11727725" cy="1028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6536698" y="-47126"/>
              <a:ext cx="8095277" cy="103459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" name="Google Shape;178;p29"/>
          <p:cNvSpPr txBox="1"/>
          <p:nvPr>
            <p:ph type="title"/>
          </p:nvPr>
        </p:nvSpPr>
        <p:spPr>
          <a:xfrm>
            <a:off x="623400" y="890050"/>
            <a:ext cx="104649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23400" y="2304950"/>
            <a:ext cx="124680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Identify and invite additional potential members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Setup Website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M</a:t>
            </a:r>
            <a:r>
              <a:rPr lang="en"/>
              <a:t>eet to discuss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Work out organizational details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Collect resources and populate directories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Promote Object Pascal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???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Profit?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1000"/>
              </a:spcAft>
              <a:buSzPts val="3600"/>
              <a:buAutoNum type="arabicPeriod"/>
            </a:pPr>
            <a:r>
              <a:rPr lang="en"/>
              <a:t>World domination?</a:t>
            </a:r>
            <a:endParaRPr/>
          </a:p>
        </p:txBody>
      </p:sp>
      <p:grpSp>
        <p:nvGrpSpPr>
          <p:cNvPr id="180" name="Google Shape;180;p29"/>
          <p:cNvGrpSpPr/>
          <p:nvPr/>
        </p:nvGrpSpPr>
        <p:grpSpPr>
          <a:xfrm>
            <a:off x="11088274" y="5900"/>
            <a:ext cx="7270425" cy="7246858"/>
            <a:chOff x="11088274" y="5900"/>
            <a:chExt cx="7270425" cy="7246858"/>
          </a:xfrm>
        </p:grpSpPr>
        <p:pic>
          <p:nvPicPr>
            <p:cNvPr id="181" name="Google Shape;181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158975" y="53034"/>
              <a:ext cx="7199724" cy="71997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1088274" y="5900"/>
              <a:ext cx="7199724" cy="71997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0"/>
          <p:cNvPicPr preferRelativeResize="0"/>
          <p:nvPr/>
        </p:nvPicPr>
        <p:blipFill rotWithShape="1">
          <a:blip r:embed="rId3">
            <a:alphaModFix amt="64000"/>
          </a:blip>
          <a:srcRect b="-430" l="0" r="0" t="430"/>
          <a:stretch/>
        </p:blipFill>
        <p:spPr>
          <a:xfrm>
            <a:off x="39900" y="0"/>
            <a:ext cx="19497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0"/>
          <p:cNvSpPr txBox="1"/>
          <p:nvPr>
            <p:ph idx="4294967295" type="ctrTitle"/>
          </p:nvPr>
        </p:nvSpPr>
        <p:spPr>
          <a:xfrm>
            <a:off x="7178550" y="3778200"/>
            <a:ext cx="7987500" cy="2262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Object Pascal</a:t>
            </a:r>
            <a:endParaRPr b="1" sz="72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Foundation</a:t>
            </a:r>
            <a:endParaRPr b="1" sz="72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pSp>
        <p:nvGrpSpPr>
          <p:cNvPr id="189" name="Google Shape;189;p30"/>
          <p:cNvGrpSpPr/>
          <p:nvPr/>
        </p:nvGrpSpPr>
        <p:grpSpPr>
          <a:xfrm>
            <a:off x="3276204" y="2675441"/>
            <a:ext cx="4851256" cy="4936119"/>
            <a:chOff x="1542479" y="2766016"/>
            <a:chExt cx="4851256" cy="4936119"/>
          </a:xfrm>
        </p:grpSpPr>
        <p:pic>
          <p:nvPicPr>
            <p:cNvPr id="190" name="Google Shape;190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89655" y="2798121"/>
              <a:ext cx="4804080" cy="49040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542479" y="2766016"/>
              <a:ext cx="4804080" cy="49040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